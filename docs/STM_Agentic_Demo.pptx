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108960"/>
            <a:ext cx="12191695" cy="45720"/>
          </a:xfrm>
          <a:prstGeom prst="rect">
            <a:avLst/>
          </a:prstGeom>
          <a:solidFill>
            <a:srgbClr val="2A6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19456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9AB3E8"/>
                </a:solidFill>
                <a:latin typeface="Inter"/>
              </a:rPr>
              <a:t>SQL-GEN V2  •  TEAM DEMO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56032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Inter"/>
              </a:rPr>
              <a:t>STM Mapping Agent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38328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>
                <a:solidFill>
                  <a:srgbClr val="C9D3EC"/>
                </a:solidFill>
                <a:latin typeface="Inter"/>
              </a:rPr>
              <a:t>From prompt-to-Excel to a six-layer reasoning pipeline.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06908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9AB3E8"/>
                </a:solidFill>
                <a:latin typeface="Inter"/>
              </a:rPr>
              <a:t>Progressive certainty  ·  human governance  ·  zero regressions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0350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F83B0"/>
                </a:solidFill>
                <a:latin typeface="Inter"/>
              </a:rPr>
              <a:t>15-minute walkthrough  ·  v1 ships on feat/stm-agentic-evolution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0" y="603504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>
                <a:solidFill>
                  <a:srgbClr val="6F83B0"/>
                </a:solidFill>
                <a:latin typeface="Inter"/>
              </a:rPr>
              <a:t>2026-05-13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A6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9260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163F9F"/>
                </a:solidFill>
                <a:latin typeface="Inter"/>
              </a:rPr>
              <a:t>TL;DR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0292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0F172A"/>
                </a:solidFill>
                <a:latin typeface="Inter"/>
              </a:rPr>
              <a:t>Excel is the rendered view. The blackboard is the product.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292608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>
                <a:solidFill>
                  <a:srgbClr val="5B6782"/>
                </a:solidFill>
                <a:latin typeface="Inter"/>
              </a:rPr>
              <a:t>02 / 13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143000"/>
            <a:ext cx="11091672" cy="9525"/>
          </a:xfrm>
          <a:prstGeom prst="rect">
            <a:avLst/>
          </a:prstGeom>
          <a:solidFill>
            <a:srgbClr val="E2E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1554480"/>
            <a:ext cx="10698480" cy="1828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2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1783080"/>
            <a:ext cx="100584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0F172A"/>
                </a:solidFill>
                <a:latin typeface="Inter"/>
              </a:rPr>
              <a:t>“Until last week, STM was: prompt → Excel.</a:t>
            </a:r>
          </a:p>
          <a:p>
            <a:pPr algn="l"/>
            <a:r>
              <a:rPr sz="1800" b="0">
                <a:solidFill>
                  <a:srgbClr val="0F172A"/>
                </a:solidFill>
                <a:latin typeface="Inter"/>
              </a:rPr>
              <a:t>Now it's a six-stage reasoning pipeline where each stage hands a richer, more confident artifact to the next — with two human checkpoints.”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97180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63F9F"/>
                </a:solidFill>
                <a:latin typeface="Inter"/>
              </a:rPr>
              <a:t>The blackboard IS the product.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657600"/>
            <a:ext cx="3566160" cy="23774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2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31520" y="3657600"/>
            <a:ext cx="91440" cy="237744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3840480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0F172A"/>
                </a:solidFill>
                <a:latin typeface="Inter"/>
              </a:rPr>
              <a:t>No regressions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4343400"/>
            <a:ext cx="3200400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5B6782"/>
                </a:solidFill>
                <a:latin typeface="Inter"/>
              </a:rPr>
              <a:t>POST /api/stm/generate still serves the rule-based path. Every existing demo keeps working.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89120" y="3657600"/>
            <a:ext cx="3566160" cy="23774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2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89120" y="3657600"/>
            <a:ext cx="91440" cy="2377440"/>
          </a:xfrm>
          <a:prstGeom prst="rect">
            <a:avLst/>
          </a:prstGeom>
          <a:solidFill>
            <a:srgbClr val="2A6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63440" y="3840480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0F172A"/>
                </a:solidFill>
                <a:latin typeface="Inter"/>
              </a:rPr>
              <a:t>Progressive certainty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63440" y="4343400"/>
            <a:ext cx="3200400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5B6782"/>
                </a:solidFill>
                <a:latin typeface="Inter"/>
              </a:rPr>
              <a:t>Each layer enriches the blackboard, raises confidence, hands a more structured artifact forward.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46720" y="3657600"/>
            <a:ext cx="3566160" cy="23774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2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46720" y="3657600"/>
            <a:ext cx="91440" cy="2377440"/>
          </a:xfrm>
          <a:prstGeom prst="rect">
            <a:avLst/>
          </a:prstGeom>
          <a:solidFill>
            <a:srgbClr val="E08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21040" y="3840480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0F172A"/>
                </a:solidFill>
                <a:latin typeface="Inter"/>
              </a:rPr>
              <a:t>Governance built-in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21040" y="4343400"/>
            <a:ext cx="3200400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5B6782"/>
                </a:solidFill>
                <a:latin typeface="Inter"/>
              </a:rPr>
              <a:t>Two gates. Approve / Reject / Refine. Refinement marks downstream stale and reruns.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5B6782"/>
                </a:solidFill>
                <a:latin typeface="Inter"/>
              </a:rPr>
              <a:t>TL;DR for the room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5B6782"/>
                </a:solidFill>
                <a:latin typeface="Inter"/>
              </a:rPr>
              <a:t>sql gen v2  •  STM agentic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A6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9260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163F9F"/>
                </a:solidFill>
                <a:latin typeface="Inter"/>
              </a:rPr>
              <a:t>THE 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0292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0F172A"/>
                </a:solidFill>
                <a:latin typeface="Inter"/>
              </a:rPr>
              <a:t>Six layers. Each one raises certainty.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292608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>
                <a:solidFill>
                  <a:srgbClr val="5B6782"/>
                </a:solidFill>
                <a:latin typeface="Inter"/>
              </a:rPr>
              <a:t>03 / 13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143000"/>
            <a:ext cx="11091672" cy="9525"/>
          </a:xfrm>
          <a:prstGeom prst="rect">
            <a:avLst/>
          </a:prstGeom>
          <a:solidFill>
            <a:srgbClr val="E2E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1417320"/>
            <a:ext cx="3657600" cy="2286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2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417320"/>
            <a:ext cx="91440" cy="2286000"/>
          </a:xfrm>
          <a:prstGeom prst="rect">
            <a:avLst/>
          </a:prstGeom>
          <a:solidFill>
            <a:srgbClr val="2A6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1581912"/>
            <a:ext cx="822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2A6DF4"/>
                </a:solidFill>
                <a:latin typeface="Inter"/>
              </a:rPr>
              <a:t>L1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91640" y="1581912"/>
            <a:ext cx="2560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Inter"/>
              </a:rPr>
              <a:t>Intent Extraction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2057400"/>
            <a:ext cx="329184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5B6782"/>
                </a:solidFill>
                <a:latin typeface="Inter"/>
              </a:rPr>
              <a:t>Jira / free-text → structured business intent.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3291840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163F9F"/>
                </a:solidFill>
                <a:latin typeface="Inter"/>
              </a:rPr>
              <a:t>Haiku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80560" y="1417320"/>
            <a:ext cx="3657600" cy="2286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2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480560" y="1417320"/>
            <a:ext cx="91440" cy="2286000"/>
          </a:xfrm>
          <a:prstGeom prst="rect">
            <a:avLst/>
          </a:prstGeom>
          <a:solidFill>
            <a:srgbClr val="2A6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09160" y="1581912"/>
            <a:ext cx="822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2A6DF4"/>
                </a:solidFill>
                <a:latin typeface="Inter"/>
              </a:rPr>
              <a:t>L2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40680" y="1581912"/>
            <a:ext cx="2560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Inter"/>
              </a:rPr>
              <a:t>Metadata Intelligence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09160" y="2057400"/>
            <a:ext cx="329184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5B6782"/>
                </a:solidFill>
                <a:latin typeface="Inter"/>
              </a:rPr>
              <a:t>Parallel probe across all source DBs; build a knowledge graph.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09160" y="3291840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163F9F"/>
                </a:solidFill>
                <a:latin typeface="Inter"/>
              </a:rPr>
              <a:t>Sonnet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29600" y="1417320"/>
            <a:ext cx="3657600" cy="2286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2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229600" y="1417320"/>
            <a:ext cx="91440" cy="2286000"/>
          </a:xfrm>
          <a:prstGeom prst="rect">
            <a:avLst/>
          </a:prstGeom>
          <a:solidFill>
            <a:srgbClr val="163F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58200" y="1581912"/>
            <a:ext cx="822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63F9F"/>
                </a:solidFill>
                <a:latin typeface="Inter"/>
              </a:rPr>
              <a:t>L3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89720" y="1581912"/>
            <a:ext cx="2560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Inter"/>
              </a:rPr>
              <a:t>Semantic Mapping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58200" y="2057400"/>
            <a:ext cx="329184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5B6782"/>
                </a:solidFill>
                <a:latin typeface="Inter"/>
              </a:rPr>
              <a:t>Rule baseline + LLM refinement → candidate field mappings.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58200" y="3291840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163F9F"/>
                </a:solidFill>
                <a:latin typeface="Inter"/>
              </a:rPr>
              <a:t>Opus + rules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31520" y="3840480"/>
            <a:ext cx="3657600" cy="2286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2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31520" y="3840480"/>
            <a:ext cx="91440" cy="2286000"/>
          </a:xfrm>
          <a:prstGeom prst="rect">
            <a:avLst/>
          </a:prstGeom>
          <a:solidFill>
            <a:srgbClr val="163F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60120" y="4005072"/>
            <a:ext cx="822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63F9F"/>
                </a:solidFill>
                <a:latin typeface="Inter"/>
              </a:rPr>
              <a:t>L4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691640" y="4005072"/>
            <a:ext cx="2560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Inter"/>
              </a:rPr>
              <a:t>Transformation Synthesis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0120" y="4480560"/>
            <a:ext cx="329184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5B6782"/>
                </a:solidFill>
                <a:latin typeface="Inter"/>
              </a:rPr>
              <a:t>SCD, audit columns, derived fields, idempotency.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0120" y="5715000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163F9F"/>
                </a:solidFill>
                <a:latin typeface="Inter"/>
              </a:rPr>
              <a:t>Opus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480560" y="3840480"/>
            <a:ext cx="3657600" cy="2286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2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480560" y="3840480"/>
            <a:ext cx="91440" cy="2286000"/>
          </a:xfrm>
          <a:prstGeom prst="rect">
            <a:avLst/>
          </a:prstGeom>
          <a:solidFill>
            <a:srgbClr val="E08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709160" y="4005072"/>
            <a:ext cx="822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E08E0B"/>
                </a:solidFill>
                <a:latin typeface="Inter"/>
              </a:rPr>
              <a:t>L5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40680" y="4005072"/>
            <a:ext cx="2560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Inter"/>
              </a:rPr>
              <a:t>Validation &amp; Governance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709160" y="4480560"/>
            <a:ext cx="329184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5B6782"/>
                </a:solidFill>
                <a:latin typeface="Inter"/>
              </a:rPr>
              <a:t>Deterministic confidence scoring + rule-based findings.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709160" y="5715000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163F9F"/>
                </a:solidFill>
                <a:latin typeface="Inter"/>
              </a:rPr>
              <a:t>Deterministic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229600" y="3840480"/>
            <a:ext cx="3657600" cy="2286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2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8229600" y="3840480"/>
            <a:ext cx="91440" cy="22860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458200" y="4005072"/>
            <a:ext cx="822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6A34A"/>
                </a:solidFill>
                <a:latin typeface="Inter"/>
              </a:rPr>
              <a:t>L6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189720" y="4005072"/>
            <a:ext cx="2560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Inter"/>
              </a:rPr>
              <a:t>STM Generation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458200" y="4480560"/>
            <a:ext cx="329184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5B6782"/>
                </a:solidFill>
                <a:latin typeface="Inter"/>
              </a:rPr>
              <a:t>Compose MappingResult → render xlsx / csv.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458200" y="5715000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163F9F"/>
                </a:solidFill>
                <a:latin typeface="Inter"/>
              </a:rPr>
              <a:t>Deterministic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5B6782"/>
                </a:solidFill>
                <a:latin typeface="Inter"/>
              </a:rPr>
              <a:t>core/stm/agents/L1…L6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5B6782"/>
                </a:solidFill>
                <a:latin typeface="Inter"/>
              </a:rPr>
              <a:t>sql gen v2  •  STM agentic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A6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9260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163F9F"/>
                </a:solidFill>
                <a:latin typeface="Inter"/>
              </a:rPr>
              <a:t>HUMAN GOVERNANCE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0292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0F172A"/>
                </a:solidFill>
                <a:latin typeface="Inter"/>
              </a:rPr>
              <a:t>Two gates, three decisions.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292608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>
                <a:solidFill>
                  <a:srgbClr val="5B6782"/>
                </a:solidFill>
                <a:latin typeface="Inter"/>
              </a:rPr>
              <a:t>04 / 13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143000"/>
            <a:ext cx="11091672" cy="9525"/>
          </a:xfrm>
          <a:prstGeom prst="rect">
            <a:avLst/>
          </a:prstGeom>
          <a:solidFill>
            <a:srgbClr val="E2E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1417320"/>
            <a:ext cx="5440680" cy="26517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2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417320"/>
            <a:ext cx="109728" cy="2651760"/>
          </a:xfrm>
          <a:prstGeom prst="rect">
            <a:avLst/>
          </a:prstGeom>
          <a:solidFill>
            <a:srgbClr val="E08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160020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0F172A"/>
                </a:solidFill>
                <a:latin typeface="Inter"/>
              </a:rPr>
              <a:t>Gate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196596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E08E0B"/>
                </a:solidFill>
                <a:latin typeface="Inter"/>
              </a:rPr>
              <a:t>after L2 — Metadata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2331720"/>
            <a:ext cx="48463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0F172A"/>
                </a:solidFill>
                <a:latin typeface="Inter"/>
              </a:rPr>
              <a:t>Review the metadata graph before the LLM reasons about it.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3246120"/>
            <a:ext cx="48463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5B6782"/>
                </a:solidFill>
                <a:latin typeface="Inter"/>
              </a:rPr>
              <a:t>Why here  ·  Highest ambiguity. Cheapest place to course-correct.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9360" y="1417320"/>
            <a:ext cx="5440680" cy="26517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2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09360" y="1417320"/>
            <a:ext cx="109728" cy="265176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29400" y="160020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0F172A"/>
                </a:solidFill>
                <a:latin typeface="Inter"/>
              </a:rPr>
              <a:t>Gate 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29400" y="196596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DC2626"/>
                </a:solidFill>
                <a:latin typeface="Inter"/>
              </a:rPr>
              <a:t>after L5 — Validation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29400" y="2331720"/>
            <a:ext cx="48463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0F172A"/>
                </a:solidFill>
                <a:latin typeface="Inter"/>
              </a:rPr>
              <a:t>Review the confidence band and rule findings before shipping.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29400" y="3246120"/>
            <a:ext cx="48463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5B6782"/>
                </a:solidFill>
                <a:latin typeface="Inter"/>
              </a:rPr>
              <a:t>Why here  ·  Highest stakes. Last checkpoint before xlsx render.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4343400"/>
            <a:ext cx="3657600" cy="16916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2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1005840" y="4572000"/>
            <a:ext cx="1188720" cy="411480"/>
          </a:xfrm>
          <a:prstGeom prst="roundRect">
            <a:avLst>
              <a:gd name="adj" fmla="val 12000"/>
            </a:avLst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5840" y="4608576"/>
            <a:ext cx="1188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Inter"/>
              </a:rPr>
              <a:t>Approve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" y="5120640"/>
            <a:ext cx="329184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5B6782"/>
                </a:solidFill>
                <a:latin typeface="Inter"/>
              </a:rPr>
              <a:t>Stage stays ready. Pipeline advances.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480559" y="4343400"/>
            <a:ext cx="3657600" cy="16916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2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4754879" y="4572000"/>
            <a:ext cx="1188720" cy="411480"/>
          </a:xfrm>
          <a:prstGeom prst="roundRect">
            <a:avLst>
              <a:gd name="adj" fmla="val 12000"/>
            </a:avLst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754879" y="4608576"/>
            <a:ext cx="1188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Inter"/>
              </a:rPr>
              <a:t>Reject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54879" y="5120640"/>
            <a:ext cx="329184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5B6782"/>
                </a:solidFill>
                <a:latin typeface="Inter"/>
              </a:rPr>
              <a:t>Session terminates with reason. Clone to retry.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229598" y="4343400"/>
            <a:ext cx="3657600" cy="16916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2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8503918" y="4572000"/>
            <a:ext cx="1188720" cy="411480"/>
          </a:xfrm>
          <a:prstGeom prst="roundRect">
            <a:avLst>
              <a:gd name="adj" fmla="val 12000"/>
            </a:avLst>
          </a:prstGeom>
          <a:solidFill>
            <a:srgbClr val="E08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503918" y="4608576"/>
            <a:ext cx="1188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Inter"/>
              </a:rPr>
              <a:t>Refine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03918" y="5120640"/>
            <a:ext cx="329184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5B6782"/>
                </a:solidFill>
                <a:latin typeface="Inter"/>
              </a:rPr>
              <a:t>Target a stage + free-text feedback. Downstream marked stale; reruns.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5B6782"/>
                </a:solidFill>
                <a:latin typeface="Inter"/>
              </a:rPr>
              <a:t>asyncio.Event stalls — gates are the steering wheel, not blockers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5B6782"/>
                </a:solidFill>
                <a:latin typeface="Inter"/>
              </a:rPr>
              <a:t>sql gen v2  •  STM agentic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A6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9260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163F9F"/>
                </a:solidFill>
                <a:latin typeface="Inter"/>
              </a:rPr>
              <a:t>MENTAL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0292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0F172A"/>
                </a:solidFill>
                <a:latin typeface="Inter"/>
              </a:rPr>
              <a:t>Stage-as-agent. Shared blackboard.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292608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>
                <a:solidFill>
                  <a:srgbClr val="5B6782"/>
                </a:solidFill>
                <a:latin typeface="Inter"/>
              </a:rPr>
              <a:t>05 / 13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143000"/>
            <a:ext cx="11091672" cy="9525"/>
          </a:xfrm>
          <a:prstGeom prst="rect">
            <a:avLst/>
          </a:prstGeom>
          <a:solidFill>
            <a:srgbClr val="E2E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114800" y="2651760"/>
            <a:ext cx="3931920" cy="2194560"/>
          </a:xfrm>
          <a:prstGeom prst="roundRect">
            <a:avLst>
              <a:gd name="adj" fmla="val 12000"/>
            </a:avLst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0" y="2926080"/>
            <a:ext cx="39319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>
                <a:solidFill>
                  <a:srgbClr val="9AB3E8"/>
                </a:solidFill>
                <a:latin typeface="Inter"/>
              </a:rPr>
              <a:t>BLACKBOARD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0" y="3337560"/>
            <a:ext cx="39319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Inter"/>
              </a:rPr>
              <a:t>stm_sessions.blackboard_json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0" y="3794760"/>
            <a:ext cx="33832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C9D3EC"/>
                </a:solidFill>
                <a:latin typeface="Inter"/>
              </a:rPr>
              <a:t>intent  ·  metadata graph  ·  mappings  ·  transforms  ·  validation  ·  artifacts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1554480"/>
            <a:ext cx="128016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2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22960" y="1554480"/>
            <a:ext cx="91440" cy="914400"/>
          </a:xfrm>
          <a:prstGeom prst="rect">
            <a:avLst/>
          </a:prstGeom>
          <a:solidFill>
            <a:srgbClr val="2A6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1737360"/>
            <a:ext cx="1005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2A6DF4"/>
                </a:solidFill>
                <a:latin typeface="Inter"/>
              </a:rPr>
              <a:t>L1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2057400"/>
            <a:ext cx="1005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5B6782"/>
                </a:solidFill>
                <a:latin typeface="Inter"/>
              </a:rPr>
              <a:t>agent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3200400"/>
            <a:ext cx="128016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2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22960" y="3200400"/>
            <a:ext cx="91440" cy="914400"/>
          </a:xfrm>
          <a:prstGeom prst="rect">
            <a:avLst/>
          </a:prstGeom>
          <a:solidFill>
            <a:srgbClr val="2A6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5840" y="3383280"/>
            <a:ext cx="1005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2A6DF4"/>
                </a:solidFill>
                <a:latin typeface="Inter"/>
              </a:rPr>
              <a:t>L2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3703320"/>
            <a:ext cx="1005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5B6782"/>
                </a:solidFill>
                <a:latin typeface="Inter"/>
              </a:rPr>
              <a:t>agent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2960" y="4846320"/>
            <a:ext cx="128016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2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22960" y="4846320"/>
            <a:ext cx="91440" cy="914400"/>
          </a:xfrm>
          <a:prstGeom prst="rect">
            <a:avLst/>
          </a:prstGeom>
          <a:solidFill>
            <a:srgbClr val="163F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5840" y="5029200"/>
            <a:ext cx="1005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163F9F"/>
                </a:solidFill>
                <a:latin typeface="Inter"/>
              </a:rPr>
              <a:t>L3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" y="5349240"/>
            <a:ext cx="1005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5B6782"/>
                </a:solidFill>
                <a:latin typeface="Inter"/>
              </a:rPr>
              <a:t>agent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149840" y="1554480"/>
            <a:ext cx="128016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2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0149840" y="1554480"/>
            <a:ext cx="91440" cy="914400"/>
          </a:xfrm>
          <a:prstGeom prst="rect">
            <a:avLst/>
          </a:prstGeom>
          <a:solidFill>
            <a:srgbClr val="163F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332720" y="1737360"/>
            <a:ext cx="1005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163F9F"/>
                </a:solidFill>
                <a:latin typeface="Inter"/>
              </a:rPr>
              <a:t>L4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332720" y="2057400"/>
            <a:ext cx="1005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5B6782"/>
                </a:solidFill>
                <a:latin typeface="Inter"/>
              </a:rPr>
              <a:t>agent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0149840" y="3200400"/>
            <a:ext cx="128016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2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0149840" y="3200400"/>
            <a:ext cx="91440" cy="914400"/>
          </a:xfrm>
          <a:prstGeom prst="rect">
            <a:avLst/>
          </a:prstGeom>
          <a:solidFill>
            <a:srgbClr val="E08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0" y="3383280"/>
            <a:ext cx="1005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E08E0B"/>
                </a:solidFill>
                <a:latin typeface="Inter"/>
              </a:rPr>
              <a:t>L5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332720" y="3703320"/>
            <a:ext cx="1005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5B6782"/>
                </a:solidFill>
                <a:latin typeface="Inter"/>
              </a:rPr>
              <a:t>agent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0149840" y="4846320"/>
            <a:ext cx="128016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2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10149840" y="4846320"/>
            <a:ext cx="91440" cy="9144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332720" y="5029200"/>
            <a:ext cx="1005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16A34A"/>
                </a:solidFill>
                <a:latin typeface="Inter"/>
              </a:rPr>
              <a:t>L6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332720" y="5349240"/>
            <a:ext cx="1005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5B6782"/>
                </a:solidFill>
                <a:latin typeface="Inter"/>
              </a:rPr>
              <a:t>agent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31520" y="5303520"/>
            <a:ext cx="10698480" cy="8229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2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14400" y="5440680"/>
            <a:ext cx="103327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0F172A"/>
                </a:solidFill>
                <a:latin typeface="Inter"/>
              </a:rPr>
              <a:t>Every agent reads from and writes to the blackboard.  Crash mid-run? `_recover_stm_sessions()` resumes from persisted state.  Reload mid-stage? SSE replays from DB then tails live.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5B6782"/>
                </a:solidFill>
                <a:latin typeface="Inter"/>
              </a:rPr>
              <a:t>core/stm/blackboard.py  ·  core/stm/coordinator.py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5B6782"/>
                </a:solidFill>
                <a:latin typeface="Inter"/>
              </a:rPr>
              <a:t>sql gen v2  •  STM agentic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A6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9260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163F9F"/>
                </a:solidFill>
                <a:latin typeface="Inter"/>
              </a:rPr>
              <a:t>DEMO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0292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0F172A"/>
                </a:solidFill>
                <a:latin typeface="Inter"/>
              </a:rPr>
              <a:t>Four acts. ~15 minutes.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292608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>
                <a:solidFill>
                  <a:srgbClr val="5B6782"/>
                </a:solidFill>
                <a:latin typeface="Inter"/>
              </a:rPr>
              <a:t>06 / 13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143000"/>
            <a:ext cx="11091672" cy="9525"/>
          </a:xfrm>
          <a:prstGeom prst="rect">
            <a:avLst/>
          </a:prstGeom>
          <a:solidFill>
            <a:srgbClr val="E2E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1417320"/>
            <a:ext cx="10698480" cy="1143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2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14400" y="1645920"/>
            <a:ext cx="914400" cy="685800"/>
          </a:xfrm>
          <a:prstGeom prst="roundRect">
            <a:avLst>
              <a:gd name="adj" fmla="val 12000"/>
            </a:avLst>
          </a:prstGeom>
          <a:solidFill>
            <a:srgbClr val="2A6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709928"/>
            <a:ext cx="914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Inter"/>
              </a:rPr>
              <a:t>Act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03120" y="1600200"/>
            <a:ext cx="6400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0F172A"/>
                </a:solidFill>
                <a:latin typeface="Inter"/>
              </a:rPr>
              <a:t>What we had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0" y="1618488"/>
            <a:ext cx="1280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1">
                <a:solidFill>
                  <a:srgbClr val="5B6782"/>
                </a:solidFill>
                <a:latin typeface="Inter"/>
              </a:rPr>
              <a:t>1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03120" y="2011680"/>
            <a:ext cx="91440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5B6782"/>
                </a:solidFill>
                <a:latin typeface="Inter"/>
              </a:rPr>
              <a:t>Tab A — `/mapping_compose_react.html`. Pick profile → schema → columns → Generate STM. Excel downloads. No regressions.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2651760"/>
            <a:ext cx="10698480" cy="1143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2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914400" y="2880360"/>
            <a:ext cx="914400" cy="685800"/>
          </a:xfrm>
          <a:prstGeom prst="roundRect">
            <a:avLst>
              <a:gd name="adj" fmla="val 12000"/>
            </a:avLst>
          </a:prstGeom>
          <a:solidFill>
            <a:srgbClr val="2A6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2944368"/>
            <a:ext cx="914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Inter"/>
              </a:rPr>
              <a:t>Act 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03120" y="2834640"/>
            <a:ext cx="6400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0F172A"/>
                </a:solidFill>
                <a:latin typeface="Inter"/>
              </a:rPr>
              <a:t>What we built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0" y="2852928"/>
            <a:ext cx="1280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1">
                <a:solidFill>
                  <a:srgbClr val="5B6782"/>
                </a:solidFill>
                <a:latin typeface="Inter"/>
              </a:rPr>
              <a:t>8 min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03120" y="3246120"/>
            <a:ext cx="91440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5B6782"/>
                </a:solidFill>
                <a:latin typeface="Inter"/>
              </a:rPr>
              <a:t>Tab B — `?mode=agentic`. Start session → watch L1→L6 over SSE → Gate 1 refine → flow to L5 → Gate 2 approve → download xlsx.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3886200"/>
            <a:ext cx="10698480" cy="1143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2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914400" y="4114800"/>
            <a:ext cx="914400" cy="685800"/>
          </a:xfrm>
          <a:prstGeom prst="roundRect">
            <a:avLst>
              <a:gd name="adj" fmla="val 12000"/>
            </a:avLst>
          </a:prstGeom>
          <a:solidFill>
            <a:srgbClr val="2A6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4178808"/>
            <a:ext cx="914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Inter"/>
              </a:rPr>
              <a:t>Act 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03120" y="4069080"/>
            <a:ext cx="6400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0F172A"/>
                </a:solidFill>
                <a:latin typeface="Inter"/>
              </a:rPr>
              <a:t>What's underneath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58400" y="4087368"/>
            <a:ext cx="1280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1">
                <a:solidFill>
                  <a:srgbClr val="5B6782"/>
                </a:solidFill>
                <a:latin typeface="Inter"/>
              </a:rPr>
              <a:t>3 min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103120" y="4480560"/>
            <a:ext cx="91440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5B6782"/>
                </a:solidFill>
                <a:latin typeface="Inter"/>
              </a:rPr>
              <a:t>Persisted blackboard, crash recovery, SSE replay, clone &amp; retry, Jira write-back on session_done.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31520" y="5120640"/>
            <a:ext cx="10698480" cy="1143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2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914400" y="5349240"/>
            <a:ext cx="914400" cy="685800"/>
          </a:xfrm>
          <a:prstGeom prst="roundRect">
            <a:avLst>
              <a:gd name="adj" fmla="val 12000"/>
            </a:avLst>
          </a:prstGeom>
          <a:solidFill>
            <a:srgbClr val="2A6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400" y="5413248"/>
            <a:ext cx="914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Inter"/>
              </a:rPr>
              <a:t>Act 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103120" y="5303520"/>
            <a:ext cx="6400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0F172A"/>
                </a:solidFill>
                <a:latin typeface="Inter"/>
              </a:rPr>
              <a:t>Why this matters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058400" y="5321808"/>
            <a:ext cx="1280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1">
                <a:solidFill>
                  <a:srgbClr val="5B6782"/>
                </a:solidFill>
                <a:latin typeface="Inter"/>
              </a:rPr>
              <a:t>2 min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103120" y="5715000"/>
            <a:ext cx="91440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5B6782"/>
                </a:solidFill>
                <a:latin typeface="Inter"/>
              </a:rPr>
              <a:t>No regressions. Progressive certainty. Governance built-in. Excel is the rendered view; blackboard is the product.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5B6782"/>
                </a:solidFill>
                <a:latin typeface="Inter"/>
              </a:rPr>
              <a:t>docs/STM_AGENTIC_DEMO.md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5B6782"/>
                </a:solidFill>
                <a:latin typeface="Inter"/>
              </a:rPr>
              <a:t>sql gen v2  •  STM agentic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A6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9260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163F9F"/>
                </a:solidFill>
                <a:latin typeface="Inter"/>
              </a:rPr>
              <a:t>ACT 2 — OPEN THE AGENTIC UI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0292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0F172A"/>
                </a:solidFill>
                <a:latin typeface="Inter"/>
              </a:rPr>
              <a:t>One intent. Many sources. Governed pipeline.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292608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>
                <a:solidFill>
                  <a:srgbClr val="5B6782"/>
                </a:solidFill>
                <a:latin typeface="Inter"/>
              </a:rPr>
              <a:t>07 / 13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143000"/>
            <a:ext cx="11091672" cy="9525"/>
          </a:xfrm>
          <a:prstGeom prst="rect">
            <a:avLst/>
          </a:prstGeom>
          <a:solidFill>
            <a:srgbClr val="E2E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1417320"/>
            <a:ext cx="5943600" cy="4572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2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60020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0F172A"/>
                </a:solidFill>
                <a:latin typeface="Inter"/>
              </a:rPr>
              <a:t>Create agentic session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103120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5B6782"/>
                </a:solidFill>
                <a:latin typeface="Inter"/>
              </a:rPr>
              <a:t>Target table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017520" y="2057400"/>
            <a:ext cx="3520440" cy="365760"/>
          </a:xfrm>
          <a:prstGeom prst="roundRect">
            <a:avLst>
              <a:gd name="adj" fmla="val 12000"/>
            </a:avLst>
          </a:prstGeom>
          <a:solidFill>
            <a:srgbClr val="F7F8FC"/>
          </a:solidFill>
          <a:ln w="9525">
            <a:solidFill>
              <a:srgbClr val="E2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154680" y="2103120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0F172A"/>
                </a:solidFill>
                <a:latin typeface="Inter"/>
              </a:rPr>
              <a:t>fact_customer_360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606040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5B6782"/>
                </a:solidFill>
                <a:latin typeface="Inter"/>
              </a:rPr>
              <a:t>Target dataset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017520" y="2560320"/>
            <a:ext cx="3520440" cy="365760"/>
          </a:xfrm>
          <a:prstGeom prst="roundRect">
            <a:avLst>
              <a:gd name="adj" fmla="val 12000"/>
            </a:avLst>
          </a:prstGeom>
          <a:solidFill>
            <a:srgbClr val="F7F8FC"/>
          </a:solidFill>
          <a:ln w="9525">
            <a:solidFill>
              <a:srgbClr val="E2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154680" y="2606040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0F172A"/>
                </a:solidFill>
                <a:latin typeface="Inter"/>
              </a:rPr>
              <a:t>analytics_warehouse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3108960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5B6782"/>
                </a:solidFill>
                <a:latin typeface="Inter"/>
              </a:rPr>
              <a:t>Sources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017520" y="3063240"/>
            <a:ext cx="3520440" cy="365760"/>
          </a:xfrm>
          <a:prstGeom prst="roundRect">
            <a:avLst>
              <a:gd name="adj" fmla="val 12000"/>
            </a:avLst>
          </a:prstGeom>
          <a:solidFill>
            <a:srgbClr val="F7F8FC"/>
          </a:solidFill>
          <a:ln w="9525">
            <a:solidFill>
              <a:srgbClr val="E2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154680" y="3108960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0F172A"/>
                </a:solidFill>
                <a:latin typeface="Inter"/>
              </a:rPr>
              <a:t>pg-demo  (live Postgres profile)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3611880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5B6782"/>
                </a:solidFill>
                <a:latin typeface="Inter"/>
              </a:rPr>
              <a:t>Intent source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017520" y="3566160"/>
            <a:ext cx="3520440" cy="365760"/>
          </a:xfrm>
          <a:prstGeom prst="roundRect">
            <a:avLst>
              <a:gd name="adj" fmla="val 12000"/>
            </a:avLst>
          </a:prstGeom>
          <a:solidFill>
            <a:srgbClr val="F7F8FC"/>
          </a:solidFill>
          <a:ln w="9525">
            <a:solidFill>
              <a:srgbClr val="E2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154680" y="3611880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0F172A"/>
                </a:solidFill>
                <a:latin typeface="Inter"/>
              </a:rPr>
              <a:t>Free text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4114800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5B6782"/>
                </a:solidFill>
                <a:latin typeface="Inter"/>
              </a:rPr>
              <a:t>Describe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017520" y="4069080"/>
            <a:ext cx="3520440" cy="365760"/>
          </a:xfrm>
          <a:prstGeom prst="roundRect">
            <a:avLst>
              <a:gd name="adj" fmla="val 12000"/>
            </a:avLst>
          </a:prstGeom>
          <a:solidFill>
            <a:srgbClr val="F7F8FC"/>
          </a:solidFill>
          <a:ln w="9525">
            <a:solidFill>
              <a:srgbClr val="E2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154680" y="4114800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0F172A"/>
                </a:solidFill>
                <a:latin typeface="Inter"/>
              </a:rPr>
              <a:t>Load customer 360 dimension from CRM into BigQuery, daily refresh, mask PII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14400" y="5212080"/>
            <a:ext cx="1828800" cy="502920"/>
          </a:xfrm>
          <a:prstGeom prst="roundRect">
            <a:avLst>
              <a:gd name="adj" fmla="val 12000"/>
            </a:avLst>
          </a:prstGeom>
          <a:solidFill>
            <a:srgbClr val="2A6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4400" y="5285232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Inter"/>
              </a:rPr>
              <a:t>Start session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858000" y="1417320"/>
            <a:ext cx="4572000" cy="4572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2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040880" y="1600200"/>
            <a:ext cx="4206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0F172A"/>
                </a:solidFill>
                <a:latin typeface="Inter"/>
              </a:rPr>
              <a:t>What the room hears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40880" y="2057400"/>
            <a:ext cx="4206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63F9F"/>
                </a:solidFill>
                <a:latin typeface="Inter"/>
              </a:rPr>
              <a:t>Intent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040880" y="2331720"/>
            <a:ext cx="42062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5B6782"/>
                </a:solidFill>
                <a:latin typeface="Inter"/>
              </a:rPr>
              <a:t>Plain English about the load and the policy (PII masking, cadence).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040880" y="3017520"/>
            <a:ext cx="4206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63F9F"/>
                </a:solidFill>
                <a:latin typeface="Inter"/>
              </a:rPr>
              <a:t>Sources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040880" y="3291840"/>
            <a:ext cx="42062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5B6782"/>
                </a:solidFill>
                <a:latin typeface="Inter"/>
              </a:rPr>
              <a:t>Multi-dialect: Postgres, Oracle, MySQL, MSSQL, BigQuery.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40880" y="3977640"/>
            <a:ext cx="4206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63F9F"/>
                </a:solidFill>
                <a:latin typeface="Inter"/>
              </a:rPr>
              <a:t>Target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040880" y="4251960"/>
            <a:ext cx="42062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5B6782"/>
                </a:solidFill>
                <a:latin typeface="Inter"/>
              </a:rPr>
              <a:t>BigQuery dataset + table.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040880" y="4937760"/>
            <a:ext cx="4206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63F9F"/>
                </a:solidFill>
                <a:latin typeface="Inter"/>
              </a:rPr>
              <a:t>Then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040880" y="5212080"/>
            <a:ext cx="42062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5B6782"/>
                </a:solidFill>
                <a:latin typeface="Inter"/>
              </a:rPr>
              <a:t>L1 runs in ~1s.  L2 fans out and probes every source.  Stepper turns live.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5B6782"/>
                </a:solidFill>
                <a:latin typeface="Inter"/>
              </a:rPr>
              <a:t>ui/mapping_compose_react.html — AgenticApp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5B6782"/>
                </a:solidFill>
                <a:latin typeface="Inter"/>
              </a:rPr>
              <a:t>sql gen v2  •  STM agentic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A6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9260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163F9F"/>
                </a:solidFill>
                <a:latin typeface="Inter"/>
              </a:rPr>
              <a:t>GATES IN MOTION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0292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0F172A"/>
                </a:solidFill>
                <a:latin typeface="Inter"/>
              </a:rPr>
              <a:t>Refine is the loop. Approve is the release.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292608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>
                <a:solidFill>
                  <a:srgbClr val="5B6782"/>
                </a:solidFill>
                <a:latin typeface="Inter"/>
              </a:rPr>
              <a:t>08 / 13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143000"/>
            <a:ext cx="11091672" cy="9525"/>
          </a:xfrm>
          <a:prstGeom prst="rect">
            <a:avLst/>
          </a:prstGeom>
          <a:solidFill>
            <a:srgbClr val="E2E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1417320"/>
            <a:ext cx="1737360" cy="10058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2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417320"/>
            <a:ext cx="73152" cy="100584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554480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0F172A"/>
                </a:solidFill>
                <a:latin typeface="Inter"/>
              </a:rPr>
              <a:t>L1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1920240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16A34A"/>
                </a:solidFill>
                <a:latin typeface="Inter"/>
              </a:rPr>
              <a:t>ready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578608" y="1417320"/>
            <a:ext cx="1737360" cy="10058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2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578608" y="1417320"/>
            <a:ext cx="73152" cy="1005840"/>
          </a:xfrm>
          <a:prstGeom prst="rect">
            <a:avLst/>
          </a:prstGeom>
          <a:solidFill>
            <a:srgbClr val="E08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61488" y="1554480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0F172A"/>
                </a:solidFill>
                <a:latin typeface="Inter"/>
              </a:rPr>
              <a:t>L2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61488" y="1920240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E08E0B"/>
                </a:solidFill>
                <a:latin typeface="Inter"/>
              </a:rPr>
              <a:t>awaiting_review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425696" y="1417320"/>
            <a:ext cx="1737360" cy="10058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2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425696" y="1417320"/>
            <a:ext cx="73152" cy="1005840"/>
          </a:xfrm>
          <a:prstGeom prst="rect">
            <a:avLst/>
          </a:prstGeom>
          <a:solidFill>
            <a:srgbClr val="2A6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08576" y="1554480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0F172A"/>
                </a:solidFill>
                <a:latin typeface="Inter"/>
              </a:rPr>
              <a:t>L3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08576" y="1920240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2A6DF4"/>
                </a:solidFill>
                <a:latin typeface="Inter"/>
              </a:rPr>
              <a:t>running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72784" y="1417320"/>
            <a:ext cx="1737360" cy="10058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2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72784" y="1417320"/>
            <a:ext cx="73152" cy="1005840"/>
          </a:xfrm>
          <a:prstGeom prst="rect">
            <a:avLst/>
          </a:prstGeom>
          <a:solidFill>
            <a:srgbClr val="5B67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55664" y="1554480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0F172A"/>
                </a:solidFill>
                <a:latin typeface="Inter"/>
              </a:rPr>
              <a:t>L4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55664" y="1920240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5B6782"/>
                </a:solidFill>
                <a:latin typeface="Inter"/>
              </a:rPr>
              <a:t>queued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119872" y="1417320"/>
            <a:ext cx="1737360" cy="10058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2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119872" y="1417320"/>
            <a:ext cx="73152" cy="1005840"/>
          </a:xfrm>
          <a:prstGeom prst="rect">
            <a:avLst/>
          </a:prstGeom>
          <a:solidFill>
            <a:srgbClr val="5B67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02752" y="1554480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0F172A"/>
                </a:solidFill>
                <a:latin typeface="Inter"/>
              </a:rPr>
              <a:t>L5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02752" y="1920240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5B6782"/>
                </a:solidFill>
                <a:latin typeface="Inter"/>
              </a:rPr>
              <a:t>queued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966960" y="1417320"/>
            <a:ext cx="1737360" cy="10058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2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966960" y="1417320"/>
            <a:ext cx="73152" cy="1005840"/>
          </a:xfrm>
          <a:prstGeom prst="rect">
            <a:avLst/>
          </a:prstGeom>
          <a:solidFill>
            <a:srgbClr val="5B67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149840" y="1554480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0F172A"/>
                </a:solidFill>
                <a:latin typeface="Inter"/>
              </a:rPr>
              <a:t>L6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149840" y="1920240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5B6782"/>
                </a:solidFill>
                <a:latin typeface="Inter"/>
              </a:rPr>
              <a:t>queued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31520" y="2743200"/>
            <a:ext cx="6858000" cy="3200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2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31520" y="2743200"/>
            <a:ext cx="109728" cy="3200400"/>
          </a:xfrm>
          <a:prstGeom prst="rect">
            <a:avLst/>
          </a:prstGeom>
          <a:solidFill>
            <a:srgbClr val="E08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60120" y="288036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0F172A"/>
                </a:solidFill>
                <a:latin typeface="Inter"/>
              </a:rPr>
              <a:t>Gate 1 — Metadata review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0120" y="324612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5B6782"/>
                </a:solidFill>
                <a:latin typeface="Inter"/>
              </a:rPr>
              <a:t>Reviewer  shankar@example.com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60120" y="365760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63F9F"/>
                </a:solidFill>
                <a:latin typeface="Inter"/>
              </a:rPr>
              <a:t>Refine target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60120" y="3931920"/>
            <a:ext cx="1005840" cy="365760"/>
          </a:xfrm>
          <a:prstGeom prst="roundRect">
            <a:avLst>
              <a:gd name="adj" fmla="val 12000"/>
            </a:avLst>
          </a:prstGeom>
          <a:solidFill>
            <a:srgbClr val="F7F8FC"/>
          </a:solidFill>
          <a:ln w="9525">
            <a:solidFill>
              <a:srgbClr val="E2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51560" y="3986784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0F172A"/>
                </a:solidFill>
                <a:latin typeface="Inter"/>
              </a:rPr>
              <a:t>L2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60120" y="443484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63F9F"/>
                </a:solidFill>
                <a:latin typeface="Inter"/>
              </a:rPr>
              <a:t>Feedback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60120" y="4709160"/>
            <a:ext cx="6400800" cy="548640"/>
          </a:xfrm>
          <a:prstGeom prst="roundRect">
            <a:avLst>
              <a:gd name="adj" fmla="val 12000"/>
            </a:avLst>
          </a:prstGeom>
          <a:solidFill>
            <a:srgbClr val="F7F8FC"/>
          </a:solidFill>
          <a:ln w="9525">
            <a:solidFill>
              <a:srgbClr val="E2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51560" y="4800600"/>
            <a:ext cx="6217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0F172A"/>
                </a:solidFill>
                <a:latin typeface="Inter"/>
              </a:rPr>
              <a:t>“only the public schema is in scope”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960120" y="5440680"/>
            <a:ext cx="1280160" cy="411480"/>
          </a:xfrm>
          <a:prstGeom prst="roundRect">
            <a:avLst>
              <a:gd name="adj" fmla="val 12000"/>
            </a:avLst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60120" y="5486400"/>
            <a:ext cx="1280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Inter"/>
              </a:rPr>
              <a:t>Reject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2331720" y="5440680"/>
            <a:ext cx="1280160" cy="411480"/>
          </a:xfrm>
          <a:prstGeom prst="roundRect">
            <a:avLst>
              <a:gd name="adj" fmla="val 12000"/>
            </a:avLst>
          </a:prstGeom>
          <a:solidFill>
            <a:srgbClr val="E08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331720" y="5486400"/>
            <a:ext cx="1280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Inter"/>
              </a:rPr>
              <a:t>Refine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3703320" y="5440680"/>
            <a:ext cx="1280160" cy="411480"/>
          </a:xfrm>
          <a:prstGeom prst="roundRect">
            <a:avLst>
              <a:gd name="adj" fmla="val 12000"/>
            </a:avLst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703320" y="5486400"/>
            <a:ext cx="1280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Inter"/>
              </a:rPr>
              <a:t>Approve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7772400" y="2743200"/>
            <a:ext cx="3657600" cy="3200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2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955279" y="2880360"/>
            <a:ext cx="3383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Inter"/>
              </a:rPr>
              <a:t>What happens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955279" y="3246120"/>
            <a:ext cx="3383280" cy="2651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5B6782"/>
                </a:solidFill>
                <a:latin typeface="Inter"/>
              </a:rPr>
              <a:t>•  Refine → L2 reruns</a:t>
            </a:r>
          </a:p>
          <a:p>
            <a:pPr algn="l"/>
            <a:r>
              <a:rPr sz="1100" b="0">
                <a:solidFill>
                  <a:srgbClr val="5B6782"/>
                </a:solidFill>
                <a:latin typeface="Inter"/>
              </a:rPr>
              <a:t>•  Downstream marked stale</a:t>
            </a:r>
          </a:p>
          <a:p>
            <a:pPr algn="l"/>
            <a:r>
              <a:rPr sz="1100" b="0">
                <a:solidFill>
                  <a:srgbClr val="5B6782"/>
                </a:solidFill>
                <a:latin typeface="Inter"/>
              </a:rPr>
              <a:t>•  Stepper turns L2 amber → blue → green</a:t>
            </a:r>
          </a:p>
          <a:p>
            <a:pPr algn="l"/>
            <a:r>
              <a:rPr sz="1100" b="0">
                <a:solidFill>
                  <a:srgbClr val="5B6782"/>
                </a:solidFill>
                <a:latin typeface="Inter"/>
              </a:rPr>
              <a:t>•  Second pass: Approve</a:t>
            </a:r>
          </a:p>
          <a:p>
            <a:pPr algn="l"/>
            <a:r>
              <a:rPr sz="1100" b="0">
                <a:solidFill>
                  <a:srgbClr val="5B6782"/>
                </a:solidFill>
                <a:latin typeface="Inter"/>
              </a:rPr>
              <a:t>•  Pipeline advances to L3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5B6782"/>
                </a:solidFill>
                <a:latin typeface="Inter"/>
              </a:rPr>
              <a:t>routers/stm_sessions.py — decide_gate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5B6782"/>
                </a:solidFill>
                <a:latin typeface="Inter"/>
              </a:rPr>
              <a:t>sql gen v2  •  STM agentic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A6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9260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163F9F"/>
                </a:solidFill>
                <a:latin typeface="Inter"/>
              </a:rPr>
              <a:t>L3 → L5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0292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0F172A"/>
                </a:solidFill>
                <a:latin typeface="Inter"/>
              </a:rPr>
              <a:t>Rules-as-floor. LLM-on-top. Confidence at the seam.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292608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>
                <a:solidFill>
                  <a:srgbClr val="5B6782"/>
                </a:solidFill>
                <a:latin typeface="Inter"/>
              </a:rPr>
              <a:t>09 / 13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143000"/>
            <a:ext cx="11091672" cy="9525"/>
          </a:xfrm>
          <a:prstGeom prst="rect">
            <a:avLst/>
          </a:prstGeom>
          <a:solidFill>
            <a:srgbClr val="E2E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1417320"/>
            <a:ext cx="5349240" cy="4572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2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417320"/>
            <a:ext cx="109728" cy="4572000"/>
          </a:xfrm>
          <a:prstGeom prst="rect">
            <a:avLst/>
          </a:prstGeom>
          <a:solidFill>
            <a:srgbClr val="163F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160020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0F172A"/>
                </a:solidFill>
                <a:latin typeface="Inter"/>
              </a:rPr>
              <a:t>L3 · Semantic Mapping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196596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5B6782"/>
                </a:solidFill>
                <a:latin typeface="Inter"/>
              </a:rPr>
              <a:t>rule baseline → LLM refines → score per row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2468880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163F9F"/>
                </a:solidFill>
                <a:latin typeface="Inter"/>
              </a:rPr>
              <a:t>source.col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14600" y="2468880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163F9F"/>
                </a:solidFill>
                <a:latin typeface="Inter"/>
              </a:rPr>
              <a:t>→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88920" y="2468880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163F9F"/>
                </a:solidFill>
                <a:latin typeface="Inter"/>
              </a:rPr>
              <a:t>target.col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43400" y="246888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163F9F"/>
                </a:solidFill>
                <a:latin typeface="Inter"/>
              </a:rPr>
              <a:t>conf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60120" y="2743200"/>
            <a:ext cx="4114800" cy="9525"/>
          </a:xfrm>
          <a:prstGeom prst="rect">
            <a:avLst/>
          </a:prstGeom>
          <a:solidFill>
            <a:srgbClr val="E2E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0120" y="2834640"/>
            <a:ext cx="15544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0F172A"/>
                </a:solidFill>
                <a:latin typeface="Inter"/>
              </a:rPr>
              <a:t>crm.email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14600" y="2834640"/>
            <a:ext cx="2743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0F172A"/>
                </a:solidFill>
                <a:latin typeface="Inter"/>
              </a:rPr>
              <a:t>→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88920" y="2834640"/>
            <a:ext cx="15544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0F172A"/>
                </a:solidFill>
                <a:latin typeface="Inter"/>
              </a:rPr>
              <a:t>email_norm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43400" y="2834640"/>
            <a:ext cx="7315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6A34A"/>
                </a:solidFill>
                <a:latin typeface="Inter"/>
              </a:rPr>
              <a:t>0.94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" y="3246120"/>
            <a:ext cx="15544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0F172A"/>
                </a:solidFill>
                <a:latin typeface="Inter"/>
              </a:rPr>
              <a:t>crm.first_name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514600" y="3246120"/>
            <a:ext cx="2743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0F172A"/>
                </a:solidFill>
                <a:latin typeface="Inter"/>
              </a:rPr>
              <a:t>→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88920" y="3246120"/>
            <a:ext cx="15544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0F172A"/>
                </a:solidFill>
                <a:latin typeface="Inter"/>
              </a:rPr>
              <a:t>first_name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43400" y="3246120"/>
            <a:ext cx="7315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6A34A"/>
                </a:solidFill>
                <a:latin typeface="Inter"/>
              </a:rPr>
              <a:t>0.99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" y="3657600"/>
            <a:ext cx="15544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0F172A"/>
                </a:solidFill>
                <a:latin typeface="Inter"/>
              </a:rPr>
              <a:t>crm.dob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514600" y="3657600"/>
            <a:ext cx="2743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0F172A"/>
                </a:solidFill>
                <a:latin typeface="Inter"/>
              </a:rPr>
              <a:t>→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788920" y="3657600"/>
            <a:ext cx="15544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0F172A"/>
                </a:solidFill>
                <a:latin typeface="Inter"/>
              </a:rPr>
              <a:t>birth_date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43400" y="3657600"/>
            <a:ext cx="7315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E08E0B"/>
                </a:solidFill>
                <a:latin typeface="Inter"/>
              </a:rPr>
              <a:t>0.86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0120" y="4069080"/>
            <a:ext cx="15544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0F172A"/>
                </a:solidFill>
                <a:latin typeface="Inter"/>
              </a:rPr>
              <a:t>crm.zip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514600" y="4069080"/>
            <a:ext cx="2743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0F172A"/>
                </a:solidFill>
                <a:latin typeface="Inter"/>
              </a:rPr>
              <a:t>→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788920" y="4069080"/>
            <a:ext cx="15544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0F172A"/>
                </a:solidFill>
                <a:latin typeface="Inter"/>
              </a:rPr>
              <a:t>postal_code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343400" y="4069080"/>
            <a:ext cx="7315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6A34A"/>
                </a:solidFill>
                <a:latin typeface="Inter"/>
              </a:rPr>
              <a:t>0.91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263640" y="1417320"/>
            <a:ext cx="5166360" cy="4572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2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263640" y="1417320"/>
            <a:ext cx="109728" cy="4572000"/>
          </a:xfrm>
          <a:prstGeom prst="rect">
            <a:avLst/>
          </a:prstGeom>
          <a:solidFill>
            <a:srgbClr val="E08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92240" y="160020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0F172A"/>
                </a:solidFill>
                <a:latin typeface="Inter"/>
              </a:rPr>
              <a:t>L5 · Validation &amp; Governance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92240" y="1965960"/>
            <a:ext cx="4846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5B6782"/>
                </a:solidFill>
                <a:latin typeface="Inter"/>
              </a:rPr>
              <a:t>deterministic confidence band + rule findings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492240" y="2468880"/>
            <a:ext cx="4754880" cy="914400"/>
          </a:xfrm>
          <a:prstGeom prst="roundRect">
            <a:avLst>
              <a:gd name="adj" fmla="val 12000"/>
            </a:avLst>
          </a:prstGeom>
          <a:solidFill>
            <a:srgbClr val="F7F8FC"/>
          </a:solidFill>
          <a:ln w="9525">
            <a:solidFill>
              <a:srgbClr val="E2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675120" y="2606040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5B6782"/>
                </a:solidFill>
                <a:latin typeface="Inter"/>
              </a:rPr>
              <a:t>overall_band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675120" y="2880360"/>
            <a:ext cx="914400" cy="365760"/>
          </a:xfrm>
          <a:prstGeom prst="roundRect">
            <a:avLst>
              <a:gd name="adj" fmla="val 12000"/>
            </a:avLst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675120" y="2926080"/>
            <a:ext cx="914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Inter"/>
              </a:rPr>
              <a:t>green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863840" y="292608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0F172A"/>
                </a:solidFill>
                <a:latin typeface="Inter"/>
              </a:rPr>
              <a:t>score 0.91   ·   coverage 100%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92240" y="361188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63F9F"/>
                </a:solidFill>
                <a:latin typeface="Inter"/>
              </a:rPr>
              <a:t>Findings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92240" y="3931920"/>
            <a:ext cx="4846320" cy="1920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5B6782"/>
                </a:solidFill>
                <a:latin typeface="Inter"/>
              </a:rPr>
              <a:t>•  PII coverage OK — email + dob masked</a:t>
            </a:r>
          </a:p>
          <a:p>
            <a:pPr algn="l"/>
            <a:r>
              <a:rPr sz="1100" b="0">
                <a:solidFill>
                  <a:srgbClr val="5B6782"/>
                </a:solidFill>
                <a:latin typeface="Inter"/>
              </a:rPr>
              <a:t>•  Type coercions reviewed (3)</a:t>
            </a:r>
          </a:p>
          <a:p>
            <a:pPr algn="l"/>
            <a:r>
              <a:rPr sz="1100" b="0">
                <a:solidFill>
                  <a:srgbClr val="5B6782"/>
                </a:solidFill>
                <a:latin typeface="Inter"/>
              </a:rPr>
              <a:t>•  FK chain depth ≤ 2 — within budget</a:t>
            </a:r>
          </a:p>
          <a:p>
            <a:pPr algn="l"/>
            <a:r>
              <a:rPr sz="1100" b="0">
                <a:solidFill>
                  <a:srgbClr val="5B6782"/>
                </a:solidFill>
                <a:latin typeface="Inter"/>
              </a:rPr>
              <a:t>•  No orphan source columns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5B6782"/>
                </a:solidFill>
                <a:latin typeface="Inter"/>
              </a:rPr>
              <a:t>core/stm/mapping_engine.py is the deterministic floor inside L3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5B6782"/>
                </a:solidFill>
                <a:latin typeface="Inter"/>
              </a:rPr>
              <a:t>sql gen v2  •  STM agentic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A6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9260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163F9F"/>
                </a:solidFill>
                <a:latin typeface="Inter"/>
              </a:rPr>
              <a:t>ACT 3 — WHAT'S UNDERNEATH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0292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0F172A"/>
                </a:solidFill>
                <a:latin typeface="Inter"/>
              </a:rPr>
              <a:t>The blackboard is persisted. The pipeline is observable.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292608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>
                <a:solidFill>
                  <a:srgbClr val="5B6782"/>
                </a:solidFill>
                <a:latin typeface="Inter"/>
              </a:rPr>
              <a:t>10 / 13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143000"/>
            <a:ext cx="11091672" cy="9525"/>
          </a:xfrm>
          <a:prstGeom prst="rect">
            <a:avLst/>
          </a:prstGeom>
          <a:solidFill>
            <a:srgbClr val="E2E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1417320"/>
            <a:ext cx="5394960" cy="21031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2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417320"/>
            <a:ext cx="91440" cy="2103120"/>
          </a:xfrm>
          <a:prstGeom prst="rect">
            <a:avLst/>
          </a:prstGeom>
          <a:solidFill>
            <a:srgbClr val="2A6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1645920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0F172A"/>
                </a:solidFill>
                <a:latin typeface="Inter"/>
              </a:rPr>
              <a:t>Persisted blackboard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103120"/>
            <a:ext cx="493776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5B6782"/>
                </a:solidFill>
                <a:latin typeface="Inter"/>
              </a:rPr>
              <a:t>Every stage writes to `stm_sessions.blackboard_json`.</a:t>
            </a:r>
          </a:p>
          <a:p>
            <a:pPr algn="l"/>
            <a:r>
              <a:rPr sz="1200" b="0">
                <a:solidFill>
                  <a:srgbClr val="5B6782"/>
                </a:solidFill>
                <a:latin typeface="Inter"/>
              </a:rPr>
              <a:t>Crash the API mid-run → restart → `_recover_stm_sessions()` resumes.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1417320"/>
            <a:ext cx="5394960" cy="21031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2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63640" y="1417320"/>
            <a:ext cx="91440" cy="2103120"/>
          </a:xfrm>
          <a:prstGeom prst="rect">
            <a:avLst/>
          </a:prstGeom>
          <a:solidFill>
            <a:srgbClr val="2A6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37960" y="1645920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0F172A"/>
                </a:solidFill>
                <a:latin typeface="Inter"/>
              </a:rPr>
              <a:t>SSE replay + tail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37960" y="2103120"/>
            <a:ext cx="493776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5B6782"/>
                </a:solidFill>
                <a:latin typeface="Inter"/>
              </a:rPr>
              <a:t>Reload the page mid-stage — the stream replays from DB,</a:t>
            </a:r>
          </a:p>
          <a:p>
            <a:pPr algn="l"/>
            <a:r>
              <a:rPr sz="1200" b="0">
                <a:solidFill>
                  <a:srgbClr val="5B6782"/>
                </a:solidFill>
                <a:latin typeface="Inter"/>
              </a:rPr>
              <a:t>then tails live. No lost events, no double-events.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3703320"/>
            <a:ext cx="5394960" cy="21031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2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31520" y="3703320"/>
            <a:ext cx="91440" cy="2103120"/>
          </a:xfrm>
          <a:prstGeom prst="rect">
            <a:avLst/>
          </a:prstGeom>
          <a:solidFill>
            <a:srgbClr val="2A6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5840" y="3931920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0F172A"/>
                </a:solidFill>
                <a:latin typeface="Inter"/>
              </a:rPr>
              <a:t>Clone &amp; retry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4389120"/>
            <a:ext cx="493776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5B6782"/>
                </a:solidFill>
                <a:latin typeface="Inter"/>
              </a:rPr>
              <a:t>Rejected or failed? Click Clone &amp; retry to spawn a fresh</a:t>
            </a:r>
          </a:p>
          <a:p>
            <a:pPr algn="l"/>
            <a:r>
              <a:rPr sz="1200" b="0">
                <a:solidFill>
                  <a:srgbClr val="5B6782"/>
                </a:solidFill>
                <a:latin typeface="Inter"/>
              </a:rPr>
              <a:t>session reusing sources + target + intent.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394960" cy="21031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2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63640" y="3703320"/>
            <a:ext cx="91440" cy="2103120"/>
          </a:xfrm>
          <a:prstGeom prst="rect">
            <a:avLst/>
          </a:prstGeom>
          <a:solidFill>
            <a:srgbClr val="2A6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37960" y="3931920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0F172A"/>
                </a:solidFill>
                <a:latin typeface="Inter"/>
              </a:rPr>
              <a:t>Jira write-back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37960" y="4389120"/>
            <a:ext cx="493776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5B6782"/>
                </a:solidFill>
                <a:latin typeface="Inter"/>
              </a:rPr>
              <a:t>On `session_done` the Jira issue gets a comment with</a:t>
            </a:r>
          </a:p>
          <a:p>
            <a:pPr algn="l"/>
            <a:r>
              <a:rPr sz="1200" b="0">
                <a:solidFill>
                  <a:srgbClr val="5B6782"/>
                </a:solidFill>
                <a:latin typeface="Inter"/>
              </a:rPr>
              <a:t>target, confidence band, field count, sources. Env-gated.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5B6782"/>
                </a:solidFill>
                <a:latin typeface="Inter"/>
              </a:rPr>
              <a:t>core/stm/coordinator.py  ·  core/stm/events.py  ·  app.py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5B6782"/>
                </a:solidFill>
                <a:latin typeface="Inter"/>
              </a:rPr>
              <a:t>sql gen v2  •  STM agentic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A6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9260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163F9F"/>
                </a:solidFill>
                <a:latin typeface="Inter"/>
              </a:rPr>
              <a:t>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0292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0F172A"/>
                </a:solidFill>
                <a:latin typeface="Inter"/>
              </a:rPr>
              <a:t>Where the bits live.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292608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>
                <a:solidFill>
                  <a:srgbClr val="5B6782"/>
                </a:solidFill>
                <a:latin typeface="Inter"/>
              </a:rPr>
              <a:t>11 / 13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143000"/>
            <a:ext cx="11091672" cy="9525"/>
          </a:xfrm>
          <a:prstGeom prst="rect">
            <a:avLst/>
          </a:prstGeom>
          <a:solidFill>
            <a:srgbClr val="E2E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1417320"/>
            <a:ext cx="10698480" cy="71323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2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417320"/>
            <a:ext cx="91440" cy="713232"/>
          </a:xfrm>
          <a:prstGeom prst="rect">
            <a:avLst/>
          </a:prstGeom>
          <a:solidFill>
            <a:srgbClr val="2A6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1581912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2A6DF4"/>
                </a:solidFill>
                <a:latin typeface="Inter"/>
              </a:rPr>
              <a:t>UI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91840" y="1581912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0F172A"/>
                </a:solidFill>
                <a:latin typeface="Inter"/>
              </a:rPr>
              <a:t>ui/mapping_compose_react.html  —  AgenticApp ?mode=agentic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2221992"/>
            <a:ext cx="10698480" cy="71323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2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31520" y="2221992"/>
            <a:ext cx="91440" cy="713232"/>
          </a:xfrm>
          <a:prstGeom prst="rect">
            <a:avLst/>
          </a:prstGeom>
          <a:solidFill>
            <a:srgbClr val="163F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2386584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63F9F"/>
                </a:solidFill>
                <a:latin typeface="Inter"/>
              </a:rPr>
              <a:t>REST + SSE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91840" y="2386584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0F172A"/>
                </a:solidFill>
                <a:latin typeface="Inter"/>
              </a:rPr>
              <a:t>routers/stm_sessions.py  —  POST /api/stm/sessions  ·  /events  ·  /gates  ·  /clone  ·  /export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3026664"/>
            <a:ext cx="10698480" cy="71323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2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31520" y="3026664"/>
            <a:ext cx="91440" cy="713232"/>
          </a:xfrm>
          <a:prstGeom prst="rect">
            <a:avLst/>
          </a:prstGeom>
          <a:solidFill>
            <a:srgbClr val="E08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0120" y="3191256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E08E0B"/>
                </a:solidFill>
                <a:latin typeface="Inter"/>
              </a:rPr>
              <a:t>Coordinator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91840" y="3191256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0F172A"/>
                </a:solidFill>
                <a:latin typeface="Inter"/>
              </a:rPr>
              <a:t>core/stm/coordinator.py  —  pipeline loop, gate stalls, recovery hook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3831336"/>
            <a:ext cx="10698480" cy="71323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2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31520" y="3831336"/>
            <a:ext cx="91440" cy="713232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0120" y="3995928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6A34A"/>
                </a:solidFill>
                <a:latin typeface="Inter"/>
              </a:rPr>
              <a:t>Agents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91840" y="3995928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0F172A"/>
                </a:solidFill>
                <a:latin typeface="Inter"/>
              </a:rPr>
              <a:t>core/stm/agents/  —  L1 intent · L2 metadata · L3 mapping · L4 transforms · L5 validation · L6 builder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20" y="4636008"/>
            <a:ext cx="10698480" cy="71323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2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31520" y="4636008"/>
            <a:ext cx="91440" cy="713232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60120" y="4800600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0F172A"/>
                </a:solidFill>
                <a:latin typeface="Inter"/>
              </a:rPr>
              <a:t>Blackboard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291840" y="4800600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0F172A"/>
                </a:solidFill>
                <a:latin typeface="Inter"/>
              </a:rPr>
              <a:t>core/stm/blackboard.py  —  shared session state Pydantic models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31520" y="5440680"/>
            <a:ext cx="10698480" cy="71323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2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31520" y="5440680"/>
            <a:ext cx="91440" cy="713232"/>
          </a:xfrm>
          <a:prstGeom prst="rect">
            <a:avLst/>
          </a:prstGeom>
          <a:solidFill>
            <a:srgbClr val="5B67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60120" y="5605272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5B6782"/>
                </a:solidFill>
                <a:latin typeface="Inter"/>
              </a:rPr>
              <a:t>Persistence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291840" y="5605272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0F172A"/>
                </a:solidFill>
                <a:latin typeface="Inter"/>
              </a:rPr>
              <a:t>stm_sessions  ·  stm_stage_events  ·  stm_gate_decisions  (alembic-managed)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5B6782"/>
                </a:solidFill>
                <a:latin typeface="Inter"/>
              </a:rPr>
              <a:t>docs/superpowers/specs/2026-05-11-stm-agentic-evolution-design.md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5B6782"/>
                </a:solidFill>
                <a:latin typeface="Inter"/>
              </a:rPr>
              <a:t>sql gen v2  •  STM agentic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A6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9260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163F9F"/>
                </a:solidFill>
                <a:latin typeface="Inter"/>
              </a:rPr>
              <a:t>ANTICIPATED QUESTIONS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0292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0F172A"/>
                </a:solidFill>
                <a:latin typeface="Inter"/>
              </a:rPr>
              <a:t>What the room will ask.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292608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>
                <a:solidFill>
                  <a:srgbClr val="5B6782"/>
                </a:solidFill>
                <a:latin typeface="Inter"/>
              </a:rPr>
              <a:t>12 / 13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143000"/>
            <a:ext cx="11091672" cy="9525"/>
          </a:xfrm>
          <a:prstGeom prst="rect">
            <a:avLst/>
          </a:prstGeom>
          <a:solidFill>
            <a:srgbClr val="E2E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1417320"/>
            <a:ext cx="5394960" cy="15087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2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581912"/>
            <a:ext cx="4937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0F172A"/>
                </a:solidFill>
                <a:latin typeface="Inter"/>
              </a:rPr>
              <a:t>Why two gates and not three?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1965960"/>
            <a:ext cx="49377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5B6782"/>
                </a:solidFill>
                <a:latin typeface="Inter"/>
              </a:rPr>
              <a:t>L2 is highest ambiguity (raw metadata).  L5 is highest stakes (about to ship).  L1/L3/L4 are reversible via Refine.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417320"/>
            <a:ext cx="5394960" cy="15087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2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37960" y="1581912"/>
            <a:ext cx="4937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0F172A"/>
                </a:solidFill>
                <a:latin typeface="Inter"/>
              </a:rPr>
              <a:t>What runs the LLM?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7960" y="1965960"/>
            <a:ext cx="49377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5B6782"/>
                </a:solidFill>
                <a:latin typeface="Inter"/>
              </a:rPr>
              <a:t>OpenRouter today.  L1 Haiku · L2 Sonnet · L3 + L4 Opus · L5/L6 deterministic.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063240"/>
            <a:ext cx="5394960" cy="15087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2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3227832"/>
            <a:ext cx="4937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0F172A"/>
                </a:solidFill>
                <a:latin typeface="Inter"/>
              </a:rPr>
              <a:t>Can a reviewer edit fields inline?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3611880"/>
            <a:ext cx="49377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5B6782"/>
                </a:solidFill>
                <a:latin typeface="Inter"/>
              </a:rPr>
              <a:t>Not in v1 — explicit non-goal.  Refine-with-feedback is the supported edit path.  Inline edits land in a follow-up.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63640" y="3063240"/>
            <a:ext cx="5394960" cy="15087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2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37960" y="3227832"/>
            <a:ext cx="4937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0F172A"/>
                </a:solidFill>
                <a:latin typeface="Inter"/>
              </a:rPr>
              <a:t>What if two reviewers click Approve at once?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37960" y="3611880"/>
            <a:ext cx="49377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5B6782"/>
                </a:solidFill>
                <a:latin typeface="Inter"/>
              </a:rPr>
              <a:t>`asyncio.Event.set()` is idempotent.  Second decision overwrites the row; pipeline already left the stall.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4709160"/>
            <a:ext cx="5394960" cy="15087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2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05840" y="4873752"/>
            <a:ext cx="4937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0F172A"/>
                </a:solidFill>
                <a:latin typeface="Inter"/>
              </a:rPr>
              <a:t>Is the rule-based path going away?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5840" y="5257800"/>
            <a:ext cx="49377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5B6782"/>
                </a:solidFill>
                <a:latin typeface="Inter"/>
              </a:rPr>
              <a:t>No.  It's the deterministic floor inside L3, and still served at `POST /api/stm/generate`.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63640" y="4709160"/>
            <a:ext cx="5394960" cy="15087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2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37960" y="4873752"/>
            <a:ext cx="4937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0F172A"/>
                </a:solidFill>
                <a:latin typeface="Inter"/>
              </a:rPr>
              <a:t>Single-worker uvicorn?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37960" y="5257800"/>
            <a:ext cx="49377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5B6782"/>
                </a:solidFill>
                <a:latin typeface="Inter"/>
              </a:rPr>
              <a:t>Yes, intentional for v1.  Multi-worker needs DB advisory locks — deferred.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5B6782"/>
                </a:solidFill>
                <a:latin typeface="Inter"/>
              </a:rPr>
              <a:t>Q&amp;A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5B6782"/>
                </a:solidFill>
                <a:latin typeface="Inter"/>
              </a:rPr>
              <a:t>sql gen v2  •  STM agentic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017520"/>
            <a:ext cx="12191695" cy="45720"/>
          </a:xfrm>
          <a:prstGeom prst="rect">
            <a:avLst/>
          </a:prstGeom>
          <a:solidFill>
            <a:srgbClr val="2A6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19456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9AB3E8"/>
                </a:solidFill>
                <a:latin typeface="Inter"/>
              </a:rPr>
              <a:t>ONE LINE TO REMEMBER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56032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Inter"/>
              </a:rPr>
              <a:t>Excel is the rendered view.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29184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0" b="1">
                <a:solidFill>
                  <a:srgbClr val="C9D3EC"/>
                </a:solidFill>
                <a:latin typeface="Inter"/>
              </a:rPr>
              <a:t>The blackboard is the product.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57200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6F83B0"/>
                </a:solidFill>
                <a:latin typeface="Inter"/>
              </a:rPr>
              <a:t>feat/stm-agentic-evolution  ·  docs/STM_AGENTIC_DEMO.md  ·  core/stm/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03504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Inter"/>
              </a:rPr>
              <a:t>Thanks.  Questions →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